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6" r:id="rId3"/>
    <p:sldId id="259" r:id="rId4"/>
    <p:sldId id="257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0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6437-822A-95DC-A0FA-720AFE9CAF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Audio-Based Bearing Fault Detection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on Resource-Constrained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Microcontrollers: An Ablation-Driven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Study</a:t>
            </a:r>
            <a:br>
              <a:rPr lang="en-US" sz="36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r>
              <a:rPr lang="de-DE" sz="1800" b="0" i="0" dirty="0">
                <a:solidFill>
                  <a:srgbClr val="000000"/>
                </a:solidFill>
                <a:effectLst/>
                <a:latin typeface="TeXGyreTermesX-Regular"/>
              </a:rPr>
              <a:t>Master’s Thesis Presentation</a:t>
            </a:r>
            <a:r>
              <a:rPr lang="de-DE" sz="1200" dirty="0"/>
              <a:t> </a:t>
            </a:r>
            <a:br>
              <a:rPr lang="de-DE" sz="1200" dirty="0"/>
            </a:b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03741-CD77-ED79-7BCB-EFCEA3B3B2EC}"/>
              </a:ext>
            </a:extLst>
          </p:cNvPr>
          <p:cNvSpPr txBox="1"/>
          <p:nvPr/>
        </p:nvSpPr>
        <p:spPr>
          <a:xfrm>
            <a:off x="2554453" y="3645568"/>
            <a:ext cx="7435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Ramin Nassiri — M.Sc. Electrical &amp; Microsystems Engineering (MEM)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Supervisors: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Prof. Dr.-Ing. Armin Sehr (Primary)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Prof. Dr.-Ing. Johannes Reschke (Second examiner)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92FDE-51BA-DBEB-B3A4-94FA3AC2E5A7}"/>
              </a:ext>
            </a:extLst>
          </p:cNvPr>
          <p:cNvSpPr txBox="1"/>
          <p:nvPr/>
        </p:nvSpPr>
        <p:spPr>
          <a:xfrm>
            <a:off x="2554453" y="5291170"/>
            <a:ext cx="3964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OTH Regensburg — SES Laboratory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0599E-9E59-829A-D535-0B7165199E68}"/>
              </a:ext>
            </a:extLst>
          </p:cNvPr>
          <p:cNvSpPr txBox="1"/>
          <p:nvPr/>
        </p:nvSpPr>
        <p:spPr>
          <a:xfrm>
            <a:off x="2554453" y="5832423"/>
            <a:ext cx="418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 September 2025 · 15:00 · Room S-125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488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838839-41F2-BE66-A3C9-C2303F8F3A07}"/>
              </a:ext>
            </a:extLst>
          </p:cNvPr>
          <p:cNvSpPr txBox="1"/>
          <p:nvPr/>
        </p:nvSpPr>
        <p:spPr>
          <a:xfrm>
            <a:off x="2609850" y="332283"/>
            <a:ext cx="6972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are bearings?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elements that reduce friction between rotating parts ((rot) shaft ↔ (stat)housing)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F33ADF-A364-7F0F-89A2-638AB6F15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1766155"/>
            <a:ext cx="7057524" cy="44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8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6D043D-A7F3-BDE2-8713-EFC579FDC624}"/>
              </a:ext>
            </a:extLst>
          </p:cNvPr>
          <p:cNvSpPr txBox="1"/>
          <p:nvPr/>
        </p:nvSpPr>
        <p:spPr>
          <a:xfrm>
            <a:off x="2685047" y="649704"/>
            <a:ext cx="68219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PDMS (Predictive Maintenance Systems)?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 faults </a:t>
            </a:r>
            <a:r>
              <a:rPr lang="en-US" b="1" dirty="0"/>
              <a:t>early</a:t>
            </a:r>
            <a:r>
              <a:rPr lang="en-US" dirty="0"/>
              <a:t> → avoid unplanned downtime, safety incidents, and high repair costs.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1675A-F83E-F0FC-68AC-881FE17F0003}"/>
              </a:ext>
            </a:extLst>
          </p:cNvPr>
          <p:cNvSpPr txBox="1"/>
          <p:nvPr/>
        </p:nvSpPr>
        <p:spPr>
          <a:xfrm>
            <a:off x="2685047" y="1846847"/>
            <a:ext cx="6821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SES-Lab PDMS so far (baseline):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track record with </a:t>
            </a:r>
            <a:r>
              <a:rPr lang="en-US" b="1" dirty="0"/>
              <a:t>vibration-based</a:t>
            </a:r>
            <a:r>
              <a:rPr lang="en-US" dirty="0"/>
              <a:t> monitoring and classification.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Proven ML pipelines on embedded targets.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Gap:</a:t>
            </a:r>
            <a:r>
              <a:rPr lang="en-US" dirty="0"/>
              <a:t> on-device </a:t>
            </a:r>
            <a:r>
              <a:rPr lang="en-US" b="1" dirty="0"/>
              <a:t>audio</a:t>
            </a:r>
            <a:r>
              <a:rPr lang="en-US" dirty="0"/>
              <a:t> feasibility not yet established.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608BCE-5806-B7FD-26A1-5426724B467F}"/>
              </a:ext>
            </a:extLst>
          </p:cNvPr>
          <p:cNvSpPr txBox="1"/>
          <p:nvPr/>
        </p:nvSpPr>
        <p:spPr>
          <a:xfrm>
            <a:off x="2685047" y="3429000"/>
            <a:ext cx="73432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Motivation to add audio (complement vibration):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Certain defects radiate acoustic energy before strong vibration signatures.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Redundancy</a:t>
            </a:r>
            <a:r>
              <a:rPr lang="de-DE" dirty="0"/>
              <a:t>: second modality improves robustness and fault coverage.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Enables testing in scenarios where accelerometer mounting is impractical.</a:t>
            </a:r>
            <a:br>
              <a:rPr lang="de-DE" dirty="0"/>
            </a:br>
            <a:r>
              <a:rPr lang="de-DE" dirty="0"/>
              <a:t>E.g. Hazardous/ATEX areas, </a:t>
            </a:r>
            <a:r>
              <a:rPr lang="en-US" dirty="0"/>
              <a:t>Food/pharma (CIP/SIP &amp; 3-A sanitary), High-temperature surfaces and …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1075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CD5B66-9A61-C4A3-571D-C708F1A422BC}"/>
              </a:ext>
            </a:extLst>
          </p:cNvPr>
          <p:cNvSpPr txBox="1"/>
          <p:nvPr/>
        </p:nvSpPr>
        <p:spPr>
          <a:xfrm>
            <a:off x="2171699" y="246647"/>
            <a:ext cx="5967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SES-Lab PDMS: Baseline Pipeline (GMM/MLP + 25 Features)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812E3-8092-3961-CBCF-B7CFBBE38854}"/>
              </a:ext>
            </a:extLst>
          </p:cNvPr>
          <p:cNvSpPr txBox="1"/>
          <p:nvPr/>
        </p:nvSpPr>
        <p:spPr>
          <a:xfrm>
            <a:off x="2171699" y="843677"/>
            <a:ext cx="87409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Simple pipeline (end-to-end):</a:t>
            </a:r>
            <a:endParaRPr lang="de-DE" dirty="0"/>
          </a:p>
          <a:p>
            <a:pPr>
              <a:buFont typeface="+mj-lt"/>
              <a:buAutoNum type="arabicPeriod"/>
            </a:pPr>
            <a:r>
              <a:rPr lang="de-DE" b="1" dirty="0"/>
              <a:t>Acquire</a:t>
            </a:r>
            <a:r>
              <a:rPr lang="de-DE" dirty="0"/>
              <a:t> → sensor stream (vibration baseline; audio in this work)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Segment</a:t>
            </a:r>
            <a:r>
              <a:rPr lang="de-DE" dirty="0"/>
              <a:t> → fixed windows (e.g., 0.5–1.0 s)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Preprocess</a:t>
            </a:r>
            <a:r>
              <a:rPr lang="de-DE" dirty="0"/>
              <a:t> → DC removal, normalization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Filter</a:t>
            </a:r>
            <a:r>
              <a:rPr lang="de-DE" dirty="0"/>
              <a:t> → HPF / notch / band-pass (defect-band focus)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Feature extraction (SES-25)</a:t>
            </a:r>
            <a:r>
              <a:rPr lang="de-DE" dirty="0"/>
              <a:t> → </a:t>
            </a:r>
            <a:r>
              <a:rPr lang="de-DE" b="1" dirty="0"/>
              <a:t>10 time(e.g. Mean, Standard deviation,...) + 13 freq(e.g. Dominant frequency, Bandwidth, ...) + 2 autocorr(e.g. Energy)</a:t>
            </a:r>
            <a:endParaRPr lang="de-DE" dirty="0"/>
          </a:p>
          <a:p>
            <a:pPr>
              <a:buFont typeface="+mj-lt"/>
              <a:buAutoNum type="arabicPeriod"/>
            </a:pPr>
            <a:r>
              <a:rPr lang="de-DE" b="1" dirty="0"/>
              <a:t>Scale</a:t>
            </a:r>
            <a:r>
              <a:rPr lang="de-DE" dirty="0"/>
              <a:t> → Min-Max or z-score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Inference (pre-trained model)</a:t>
            </a:r>
            <a:r>
              <a:rPr lang="de-DE" dirty="0"/>
              <a:t> → </a:t>
            </a:r>
            <a:r>
              <a:rPr lang="de-DE" b="1" dirty="0"/>
              <a:t>GMM</a:t>
            </a:r>
            <a:r>
              <a:rPr lang="de-DE" dirty="0"/>
              <a:t> or </a:t>
            </a:r>
            <a:r>
              <a:rPr lang="de-DE" b="1" dirty="0"/>
              <a:t>small MLP</a:t>
            </a:r>
            <a:endParaRPr lang="de-DE" dirty="0"/>
          </a:p>
          <a:p>
            <a:pPr>
              <a:buFont typeface="+mj-lt"/>
              <a:buAutoNum type="arabicPeriod"/>
            </a:pPr>
            <a:r>
              <a:rPr lang="de-DE" b="1" dirty="0"/>
              <a:t>Aggregate</a:t>
            </a:r>
            <a:r>
              <a:rPr lang="de-DE" dirty="0"/>
              <a:t> (optional) → segment → file decision (majority / mean-prob / median log-lik.)</a:t>
            </a:r>
          </a:p>
        </p:txBody>
      </p:sp>
    </p:spTree>
    <p:extLst>
      <p:ext uri="{BB962C8B-B14F-4D97-AF65-F5344CB8AC3E}">
        <p14:creationId xmlns:p14="http://schemas.microsoft.com/office/powerpoint/2010/main" val="61476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16F98F-1DEC-83DF-AAA9-A645C2064B81}"/>
              </a:ext>
            </a:extLst>
          </p:cNvPr>
          <p:cNvSpPr txBox="1"/>
          <p:nvPr/>
        </p:nvSpPr>
        <p:spPr>
          <a:xfrm>
            <a:off x="2934703" y="1443841"/>
            <a:ext cx="63225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GMM — Gaussian Mixture Model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Type:</a:t>
            </a:r>
            <a:r>
              <a:rPr lang="en-US" dirty="0"/>
              <a:t> Can be unsupervised (clustering), </a:t>
            </a:r>
            <a:r>
              <a:rPr lang="en-US" b="1" dirty="0"/>
              <a:t>but in our project we use it in a </a:t>
            </a:r>
            <a:r>
              <a:rPr lang="en-US" b="1" i="1" dirty="0"/>
              <a:t>supervised</a:t>
            </a:r>
            <a:r>
              <a:rPr lang="en-US" b="1" dirty="0"/>
              <a:t> way</a:t>
            </a:r>
            <a:r>
              <a:rPr lang="en-US" dirty="0"/>
              <a:t>: fit one GMM to “healthy” and one to “faulty,” then compare which model likes a new sample more.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to think of it:</a:t>
            </a:r>
            <a:r>
              <a:rPr lang="en-US" dirty="0"/>
              <a:t> “Which class’s shape does this feature vector look like?”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Pros:</a:t>
            </a:r>
            <a:r>
              <a:rPr lang="en-US" dirty="0"/>
              <a:t> Tiny, very fast on ESP32; great with small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Cons:</a:t>
            </a:r>
            <a:r>
              <a:rPr lang="en-US" dirty="0"/>
              <a:t> Simpler boundaries; may miss tricky non-linear patterns.</a:t>
            </a:r>
          </a:p>
          <a:p>
            <a:r>
              <a:rPr lang="en-US" b="1" dirty="0"/>
              <a:t>MLP — Small Neural Network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Type:</a:t>
            </a:r>
            <a:r>
              <a:rPr lang="en-US" dirty="0"/>
              <a:t> </a:t>
            </a:r>
            <a:r>
              <a:rPr lang="en-US" b="1" dirty="0"/>
              <a:t>Supervised</a:t>
            </a:r>
            <a:r>
              <a:rPr lang="en-US" dirty="0"/>
              <a:t> (needs labeled data).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to think of it:</a:t>
            </a:r>
            <a:r>
              <a:rPr lang="en-US" dirty="0"/>
              <a:t> Learns a direct rule to map features → class (healthy/faulty).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Pros:</a:t>
            </a:r>
            <a:r>
              <a:rPr lang="en-US" dirty="0"/>
              <a:t> Captures non-linear combos of features; often higher F1.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Cons:</a:t>
            </a:r>
            <a:r>
              <a:rPr lang="en-US" dirty="0"/>
              <a:t> Slightly larger; needs careful scaling/tuning.</a:t>
            </a:r>
          </a:p>
        </p:txBody>
      </p:sp>
    </p:spTree>
    <p:extLst>
      <p:ext uri="{BB962C8B-B14F-4D97-AF65-F5344CB8AC3E}">
        <p14:creationId xmlns:p14="http://schemas.microsoft.com/office/powerpoint/2010/main" val="798987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38736A-45F5-BBAD-1375-1DBD8B030704}"/>
              </a:ext>
            </a:extLst>
          </p:cNvPr>
          <p:cNvSpPr txBox="1"/>
          <p:nvPr/>
        </p:nvSpPr>
        <p:spPr>
          <a:xfrm>
            <a:off x="832184" y="932499"/>
            <a:ext cx="105276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Dataset &amp; Preparation</a:t>
            </a:r>
          </a:p>
          <a:p>
            <a:r>
              <a:rPr lang="de-DE" b="1" dirty="0"/>
              <a:t>Source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University of Ottawa Rolling-Element Bearing Dataset</a:t>
            </a:r>
            <a:r>
              <a:rPr lang="de-DE" dirty="0"/>
              <a:t> (Sehri &amp; Dumond, 2023; Mendeley).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Sessions recorded at </a:t>
            </a:r>
            <a:r>
              <a:rPr lang="de-DE" b="1" dirty="0"/>
              <a:t>42 kHz</a:t>
            </a:r>
            <a:r>
              <a:rPr lang="de-DE" dirty="0"/>
              <a:t>, </a:t>
            </a:r>
            <a:r>
              <a:rPr lang="de-DE" b="1" dirty="0"/>
              <a:t>10 s</a:t>
            </a:r>
            <a:r>
              <a:rPr lang="de-DE" dirty="0"/>
              <a:t> each; controlled operating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Class balance used here: </a:t>
            </a:r>
            <a:r>
              <a:rPr lang="de-DE" b="1" dirty="0"/>
              <a:t>20 healthy</a:t>
            </a:r>
            <a:r>
              <a:rPr lang="de-DE" dirty="0"/>
              <a:t> + </a:t>
            </a:r>
            <a:r>
              <a:rPr lang="de-DE" b="1" dirty="0"/>
              <a:t>40 faulty</a:t>
            </a:r>
            <a:r>
              <a:rPr lang="de-DE" dirty="0"/>
              <a:t> audio tracks (10 s each → </a:t>
            </a:r>
            <a:r>
              <a:rPr lang="de-DE" b="1" dirty="0"/>
              <a:t>~10 min</a:t>
            </a:r>
            <a:r>
              <a:rPr lang="de-DE" dirty="0"/>
              <a:t> total).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Then split the segments:</a:t>
            </a:r>
            <a:r>
              <a:rPr lang="en-US" dirty="0"/>
              <a:t> All segment WAVs were </a:t>
            </a:r>
            <a:r>
              <a:rPr lang="en-US" b="1" dirty="0"/>
              <a:t>randomly shuffled</a:t>
            </a:r>
            <a:r>
              <a:rPr lang="en-US" dirty="0"/>
              <a:t> and divided </a:t>
            </a:r>
            <a:r>
              <a:rPr lang="en-US" b="1" dirty="0"/>
              <a:t>70 % / 15 % / 15 %</a:t>
            </a:r>
            <a:r>
              <a:rPr lang="en-US" dirty="0"/>
              <a:t> into </a:t>
            </a:r>
            <a:r>
              <a:rPr lang="en-US" b="1" dirty="0"/>
              <a:t>train / </a:t>
            </a:r>
            <a:r>
              <a:rPr lang="en-US" b="1" dirty="0" err="1"/>
              <a:t>val</a:t>
            </a:r>
            <a:r>
              <a:rPr lang="en-US" b="1" dirty="0"/>
              <a:t> / test </a:t>
            </a:r>
            <a:r>
              <a:rPr lang="de-DE" dirty="0"/>
              <a:t>to </a:t>
            </a:r>
            <a:r>
              <a:rPr lang="de-DE" b="1" dirty="0"/>
              <a:t>avoid leakage</a:t>
            </a:r>
            <a:r>
              <a:rPr lang="de-DE" dirty="0"/>
              <a:t>.</a:t>
            </a:r>
          </a:p>
          <a:p>
            <a:r>
              <a:rPr lang="de-DE" b="1" dirty="0"/>
              <a:t>Why this dataset?</a:t>
            </a:r>
          </a:p>
          <a:p>
            <a:r>
              <a:rPr lang="de-DE" b="1" dirty="0"/>
              <a:t>Clean labels &amp; controlled setup</a:t>
            </a:r>
            <a:r>
              <a:rPr lang="de-DE" dirty="0"/>
              <a:t> → clear ground truth for method comparison.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Consistent sampling (42 kHz)</a:t>
            </a:r>
            <a:r>
              <a:rPr lang="de-DE" dirty="0"/>
              <a:t> → easy conversion/standardization.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Public &amp; reproducible → results are benchmarkable.</a:t>
            </a:r>
          </a:p>
          <a:p>
            <a:r>
              <a:rPr lang="de-DE" b="1" dirty="0"/>
              <a:t>Segmentation (how we used it)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Offline experiments: split each 10-s file into </a:t>
            </a:r>
            <a:r>
              <a:rPr lang="de-DE" b="1" dirty="0"/>
              <a:t>fixed-length windows</a:t>
            </a:r>
            <a:r>
              <a:rPr lang="de-DE" dirty="0"/>
              <a:t> (many segments per file) for training/inference.</a:t>
            </a:r>
          </a:p>
        </p:txBody>
      </p:sp>
    </p:spTree>
    <p:extLst>
      <p:ext uri="{BB962C8B-B14F-4D97-AF65-F5344CB8AC3E}">
        <p14:creationId xmlns:p14="http://schemas.microsoft.com/office/powerpoint/2010/main" val="1138637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AC2B9D-303B-9C1A-AED1-87A7063F146F}"/>
              </a:ext>
            </a:extLst>
          </p:cNvPr>
          <p:cNvSpPr txBox="1"/>
          <p:nvPr/>
        </p:nvSpPr>
        <p:spPr>
          <a:xfrm>
            <a:off x="1054768" y="1239252"/>
            <a:ext cx="100824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an ablation study — and why do it?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  <a:r>
              <a:rPr lang="en-US" dirty="0"/>
              <a:t> Systematically change </a:t>
            </a:r>
            <a:r>
              <a:rPr lang="en-US" b="1" dirty="0"/>
              <a:t>one component at a time</a:t>
            </a:r>
            <a:r>
              <a:rPr lang="en-US" dirty="0"/>
              <a:t> (or in small, controlled combos) to see how each choice affects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it matters:</a:t>
            </a:r>
            <a:r>
              <a:rPr lang="en-US" dirty="0"/>
              <a:t> Isolates </a:t>
            </a:r>
            <a:r>
              <a:rPr lang="en-US" b="1" dirty="0"/>
              <a:t>what actually helps</a:t>
            </a:r>
            <a:r>
              <a:rPr lang="en-US" dirty="0"/>
              <a:t>, avoids cargo-cult pipelines, and lets you pick a design that balances </a:t>
            </a:r>
            <a:r>
              <a:rPr lang="en-US" b="1" dirty="0"/>
              <a:t>accuracy vs. </a:t>
            </a:r>
            <a:r>
              <a:rPr lang="en-US" b="1" dirty="0" err="1"/>
              <a:t>deployability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80F33-86B3-ED99-66DC-241B56EE123F}"/>
              </a:ext>
            </a:extLst>
          </p:cNvPr>
          <p:cNvSpPr txBox="1"/>
          <p:nvPr/>
        </p:nvSpPr>
        <p:spPr>
          <a:xfrm>
            <a:off x="1054768" y="3429000"/>
            <a:ext cx="6791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many did we run?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runs:</a:t>
            </a:r>
            <a:r>
              <a:rPr lang="en-US" dirty="0"/>
              <a:t> </a:t>
            </a:r>
            <a:r>
              <a:rPr lang="en-US" b="1" dirty="0"/>
              <a:t>104</a:t>
            </a:r>
            <a:r>
              <a:rPr lang="en-US" dirty="0"/>
              <a:t> experiments, 82 main the rest side quest!</a:t>
            </a:r>
          </a:p>
        </p:txBody>
      </p:sp>
    </p:spTree>
    <p:extLst>
      <p:ext uri="{BB962C8B-B14F-4D97-AF65-F5344CB8AC3E}">
        <p14:creationId xmlns:p14="http://schemas.microsoft.com/office/powerpoint/2010/main" val="1789133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A5123-F61C-4BFF-C5D4-89992D1614B6}"/>
              </a:ext>
            </a:extLst>
          </p:cNvPr>
          <p:cNvSpPr txBox="1"/>
          <p:nvPr/>
        </p:nvSpPr>
        <p:spPr>
          <a:xfrm>
            <a:off x="1455821" y="267983"/>
            <a:ext cx="1028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What we ablated?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46831-B65A-7AE6-455D-2355734F8861}"/>
              </a:ext>
            </a:extLst>
          </p:cNvPr>
          <p:cNvSpPr txBox="1"/>
          <p:nvPr/>
        </p:nvSpPr>
        <p:spPr>
          <a:xfrm>
            <a:off x="1455821" y="974200"/>
            <a:ext cx="1016668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*Signal &amp; segmentation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Sampling rate: 8 kHz vs 16 kHz</a:t>
            </a:r>
            <a:r>
              <a:rPr lang="de-DE" dirty="0"/>
              <a:t> — lower SR = cheaper; higher SR = more detail.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Segmentation (B1/B2)</a:t>
            </a:r>
            <a:r>
              <a:rPr lang="de-DE" dirty="0"/>
              <a:t> — different window/hop to balance context vs. latency.</a:t>
            </a:r>
          </a:p>
          <a:p>
            <a:r>
              <a:rPr lang="de-DE" b="1" dirty="0"/>
              <a:t>*Denoising &amp; 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HPF (~100 Hz)</a:t>
            </a:r>
            <a:r>
              <a:rPr lang="de-DE" dirty="0"/>
              <a:t> — remove DC/very-low drift.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Notch 50 / 60 Hz</a:t>
            </a:r>
            <a:r>
              <a:rPr lang="de-DE" dirty="0"/>
              <a:t> — suppress mains hum.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Pre-emphasis</a:t>
            </a:r>
            <a:r>
              <a:rPr lang="de-DE" dirty="0"/>
              <a:t> — tilt spectrum to boost higher freqs.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Band-pass:</a:t>
            </a:r>
            <a:r>
              <a:rPr lang="de-DE" dirty="0"/>
              <a:t> </a:t>
            </a:r>
            <a:r>
              <a:rPr lang="de-DE" b="1" dirty="0"/>
              <a:t>1–5 kHz</a:t>
            </a:r>
            <a:r>
              <a:rPr lang="de-DE" dirty="0"/>
              <a:t> and </a:t>
            </a:r>
            <a:r>
              <a:rPr lang="de-DE" b="1" dirty="0"/>
              <a:t>1–3.5 kHz</a:t>
            </a:r>
            <a:r>
              <a:rPr lang="de-DE" dirty="0"/>
              <a:t> — focus on defect-rich bands, cut noise/compute.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Spectral whitening (FFT)</a:t>
            </a:r>
            <a:r>
              <a:rPr lang="de-DE" dirty="0"/>
              <a:t> — flatten spectrum to highlight narrowband cues.</a:t>
            </a:r>
          </a:p>
          <a:p>
            <a:r>
              <a:rPr lang="de-DE" b="1" dirty="0"/>
              <a:t>*Envelope &amp; dynamics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Hilbert envelope</a:t>
            </a:r>
            <a:r>
              <a:rPr lang="de-DE" dirty="0"/>
              <a:t> — extract amplitude envelope (impacts/tonality).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Log compression:</a:t>
            </a:r>
            <a:r>
              <a:rPr lang="de-DE" dirty="0"/>
              <a:t> </a:t>
            </a:r>
            <a:r>
              <a:rPr lang="de-DE" b="1" dirty="0"/>
              <a:t>norm90 / norm95 / norm99</a:t>
            </a:r>
            <a:r>
              <a:rPr lang="de-DE" dirty="0"/>
              <a:t> — tame dynamic range; different reference levels.</a:t>
            </a:r>
          </a:p>
          <a:p>
            <a:r>
              <a:rPr lang="de-DE" b="1" dirty="0"/>
              <a:t>*Feature representation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SES-25 (time/freq/autocorr)</a:t>
            </a:r>
            <a:r>
              <a:rPr lang="de-DE" dirty="0"/>
              <a:t> — the lab’s compact 25-feature 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Log-Mel (20 / 40 bands)</a:t>
            </a:r>
            <a:r>
              <a:rPr lang="de-DE" dirty="0"/>
              <a:t> — perceptual band energies with summaries.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MFCC-20 means (25D)</a:t>
            </a:r>
            <a:r>
              <a:rPr lang="de-DE" dirty="0"/>
              <a:t> — cepstral summary akin to speech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MFCC-20 + deltas (45D)</a:t>
            </a:r>
            <a:r>
              <a:rPr lang="de-DE" dirty="0"/>
              <a:t> — adds short-term dynamics to MFCCs.</a:t>
            </a:r>
          </a:p>
        </p:txBody>
      </p:sp>
    </p:spTree>
    <p:extLst>
      <p:ext uri="{BB962C8B-B14F-4D97-AF65-F5344CB8AC3E}">
        <p14:creationId xmlns:p14="http://schemas.microsoft.com/office/powerpoint/2010/main" val="3429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09A611-3953-56EC-1A82-5AFC4160270C}"/>
              </a:ext>
            </a:extLst>
          </p:cNvPr>
          <p:cNvSpPr txBox="1"/>
          <p:nvPr/>
        </p:nvSpPr>
        <p:spPr>
          <a:xfrm>
            <a:off x="1042737" y="1305341"/>
            <a:ext cx="1010652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*Feature scaling &amp; dimension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Scaling:</a:t>
            </a:r>
            <a:r>
              <a:rPr lang="de-DE" dirty="0"/>
              <a:t> </a:t>
            </a:r>
            <a:r>
              <a:rPr lang="de-DE" b="1" dirty="0"/>
              <a:t>Min-Max</a:t>
            </a:r>
            <a:r>
              <a:rPr lang="de-DE" dirty="0"/>
              <a:t>, </a:t>
            </a:r>
            <a:r>
              <a:rPr lang="de-DE" b="1" dirty="0"/>
              <a:t>z-score</a:t>
            </a:r>
            <a:r>
              <a:rPr lang="de-DE" dirty="0"/>
              <a:t>, </a:t>
            </a:r>
            <a:r>
              <a:rPr lang="de-DE" b="1" dirty="0"/>
              <a:t>RobustScaler</a:t>
            </a:r>
            <a:r>
              <a:rPr lang="de-DE" dirty="0"/>
              <a:t> — keep features comparable so models behave as trained.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PCA:</a:t>
            </a:r>
            <a:r>
              <a:rPr lang="de-DE" dirty="0"/>
              <a:t> </a:t>
            </a:r>
            <a:r>
              <a:rPr lang="de-DE" b="1" dirty="0"/>
              <a:t>k = 4</a:t>
            </a:r>
            <a:r>
              <a:rPr lang="de-DE" dirty="0"/>
              <a:t> and </a:t>
            </a:r>
            <a:r>
              <a:rPr lang="de-DE" b="1" dirty="0"/>
              <a:t>k = 8</a:t>
            </a:r>
            <a:r>
              <a:rPr lang="de-DE" dirty="0"/>
              <a:t> (and “none” in some baselines) — reduce dimension to cut overfit/compute.</a:t>
            </a:r>
          </a:p>
          <a:p>
            <a:r>
              <a:rPr lang="de-DE" b="1" dirty="0"/>
              <a:t>*Classifier choice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GMM</a:t>
            </a:r>
            <a:r>
              <a:rPr lang="de-DE" dirty="0"/>
              <a:t> — tiny &amp; fast; outputs log-likelihoods.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MLP</a:t>
            </a:r>
            <a:r>
              <a:rPr lang="de-DE" dirty="0"/>
              <a:t> — small NN; better non-linear boundaries.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Probes:</a:t>
            </a:r>
            <a:r>
              <a:rPr lang="de-DE" dirty="0"/>
              <a:t> </a:t>
            </a:r>
            <a:r>
              <a:rPr lang="de-DE" b="1" dirty="0"/>
              <a:t>RF</a:t>
            </a:r>
            <a:r>
              <a:rPr lang="de-DE" dirty="0"/>
              <a:t> and </a:t>
            </a:r>
            <a:r>
              <a:rPr lang="de-DE" b="1" dirty="0"/>
              <a:t>ET</a:t>
            </a:r>
            <a:r>
              <a:rPr lang="de-DE" dirty="0"/>
              <a:t> — sanity checks vs classical trees.</a:t>
            </a:r>
          </a:p>
          <a:p>
            <a:r>
              <a:rPr lang="de-DE" b="1" dirty="0"/>
              <a:t>*GMM extras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Outlier trimming / refit (5–10%)</a:t>
            </a:r>
            <a:r>
              <a:rPr lang="de-DE" dirty="0"/>
              <a:t> — remove odd training samples before final 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Fixed likelihood threshold (e.g., “95% keep”)</a:t>
            </a:r>
            <a:r>
              <a:rPr lang="de-DE" dirty="0"/>
              <a:t> — explicit decision rule on scores.</a:t>
            </a:r>
          </a:p>
          <a:p>
            <a:r>
              <a:rPr lang="de-DE" b="1" dirty="0"/>
              <a:t>*Aggregation (segment → file)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Majority vote</a:t>
            </a:r>
            <a:r>
              <a:rPr lang="de-DE" dirty="0"/>
              <a:t> — count labels; simple &amp; robust.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Mean probability</a:t>
            </a:r>
            <a:r>
              <a:rPr lang="de-DE" dirty="0"/>
              <a:t> (MLP) — average confidences, then decide (e.g., ≥0.5).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Median / Sum of log-likelihoods</a:t>
            </a:r>
            <a:r>
              <a:rPr lang="de-DE" dirty="0"/>
              <a:t> (GMM) — robust combination of per-segment scores.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Per-file thresholds</a:t>
            </a:r>
            <a:r>
              <a:rPr lang="de-DE" dirty="0"/>
              <a:t> — e.g., “mean prob ≥ 0.5” or “mean score vs. threshold”.</a:t>
            </a:r>
          </a:p>
        </p:txBody>
      </p:sp>
    </p:spTree>
    <p:extLst>
      <p:ext uri="{BB962C8B-B14F-4D97-AF65-F5344CB8AC3E}">
        <p14:creationId xmlns:p14="http://schemas.microsoft.com/office/powerpoint/2010/main" val="2045552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CCD48A-5C40-794C-DEDF-BE1A3282EC8A}"/>
              </a:ext>
            </a:extLst>
          </p:cNvPr>
          <p:cNvSpPr txBox="1"/>
          <p:nvPr/>
        </p:nvSpPr>
        <p:spPr>
          <a:xfrm>
            <a:off x="1138989" y="1425929"/>
            <a:ext cx="98177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Metrics &amp; why we pick F1</a:t>
            </a:r>
          </a:p>
          <a:p>
            <a:r>
              <a:rPr lang="en-US" b="1" dirty="0"/>
              <a:t>What we log for each ablation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Confusion matrix:</a:t>
            </a:r>
            <a:r>
              <a:rPr lang="en-US" dirty="0"/>
              <a:t> TP / FP / FN / TN (the ground truth of errors).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Accuracy:</a:t>
            </a:r>
            <a:r>
              <a:rPr lang="en-US" dirty="0"/>
              <a:t> overall hit-rate.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Precision:</a:t>
            </a:r>
            <a:r>
              <a:rPr lang="en-US" dirty="0"/>
              <a:t> “When we say </a:t>
            </a:r>
            <a:r>
              <a:rPr lang="en-US" i="1" dirty="0"/>
              <a:t>fault</a:t>
            </a:r>
            <a:r>
              <a:rPr lang="en-US" dirty="0"/>
              <a:t>, how often are we right?”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Recall:</a:t>
            </a:r>
            <a:r>
              <a:rPr lang="en-US" dirty="0"/>
              <a:t> “Of all real faults, how many did we catch?”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F1:</a:t>
            </a:r>
            <a:r>
              <a:rPr lang="en-US" dirty="0"/>
              <a:t> one number that balances precision &amp; recall.</a:t>
            </a:r>
          </a:p>
          <a:p>
            <a:r>
              <a:rPr lang="en-US" b="1" dirty="0"/>
              <a:t>Why F1 is our selection metric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Accuracy can mislead</a:t>
            </a:r>
            <a:r>
              <a:rPr lang="en-US" dirty="0"/>
              <a:t> when classes are imbalanced.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PDMS cares about </a:t>
            </a:r>
            <a:r>
              <a:rPr lang="en-US" b="1" dirty="0"/>
              <a:t>both</a:t>
            </a:r>
            <a:r>
              <a:rPr lang="en-US" dirty="0"/>
              <a:t> false alarms (</a:t>
            </a:r>
            <a:r>
              <a:rPr lang="en-US" b="1" dirty="0"/>
              <a:t>FP</a:t>
            </a:r>
            <a:r>
              <a:rPr lang="en-US" dirty="0"/>
              <a:t>) and missed faults (</a:t>
            </a:r>
            <a:r>
              <a:rPr lang="en-US" b="1" dirty="0"/>
              <a:t>FN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F1</a:t>
            </a:r>
            <a:r>
              <a:rPr lang="en-US" dirty="0"/>
              <a:t> is the harmonic mean of precision &amp; recall → </a:t>
            </a:r>
            <a:r>
              <a:rPr lang="en-US" b="1" dirty="0"/>
              <a:t>penalizes</a:t>
            </a:r>
            <a:r>
              <a:rPr lang="en-US" dirty="0"/>
              <a:t> models that are strong in only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Gives a </a:t>
            </a:r>
            <a:r>
              <a:rPr lang="en-US" b="1" dirty="0"/>
              <a:t>single, fair scalar</a:t>
            </a:r>
            <a:r>
              <a:rPr lang="en-US" dirty="0"/>
              <a:t> to rank ablations while we still </a:t>
            </a:r>
            <a:r>
              <a:rPr lang="en-US" b="1" dirty="0"/>
              <a:t>inspect the confusion matrix</a:t>
            </a:r>
            <a:r>
              <a:rPr lang="en-US" dirty="0"/>
              <a:t> and report accuracy for context.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50C88-F7A2-BCB6-903D-396891EE7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1425929"/>
            <a:ext cx="4138864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95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297C87-232E-D63B-A96A-5592FBD24718}"/>
              </a:ext>
            </a:extLst>
          </p:cNvPr>
          <p:cNvSpPr txBox="1"/>
          <p:nvPr/>
        </p:nvSpPr>
        <p:spPr>
          <a:xfrm>
            <a:off x="1864894" y="565484"/>
            <a:ext cx="84160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1) Feature family matters most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MLP + </a:t>
            </a:r>
            <a:r>
              <a:rPr lang="en-US" b="1" dirty="0" err="1"/>
              <a:t>Env+Log</a:t>
            </a:r>
            <a:r>
              <a:rPr lang="en-US" b="1" dirty="0"/>
              <a:t> band-energy</a:t>
            </a:r>
            <a:r>
              <a:rPr lang="en-US" dirty="0"/>
              <a:t> reached the top F1 (</a:t>
            </a:r>
            <a:r>
              <a:rPr lang="en-US" b="1" dirty="0"/>
              <a:t>0.923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GMM + SES-25</a:t>
            </a:r>
            <a:r>
              <a:rPr lang="en-US" dirty="0"/>
              <a:t> peaked at </a:t>
            </a:r>
            <a:r>
              <a:rPr lang="en-US" b="1" dirty="0"/>
              <a:t>0.900</a:t>
            </a:r>
            <a:r>
              <a:rPr lang="en-US" dirty="0"/>
              <a:t>; GMM didn’t benefit from </a:t>
            </a:r>
            <a:r>
              <a:rPr lang="en-US" dirty="0" err="1"/>
              <a:t>Env+Log</a:t>
            </a:r>
            <a:r>
              <a:rPr lang="en-US" dirty="0"/>
              <a:t> as much.</a:t>
            </a:r>
          </a:p>
          <a:p>
            <a:r>
              <a:rPr lang="de-DE" b="1" dirty="0"/>
              <a:t>Takeaway</a:t>
            </a:r>
            <a:br>
              <a:rPr lang="de-DE" dirty="0"/>
            </a:br>
            <a:r>
              <a:rPr lang="de-DE" dirty="0"/>
              <a:t>Pick features </a:t>
            </a:r>
            <a:r>
              <a:rPr lang="de-DE" b="1" dirty="0"/>
              <a:t>to match the model</a:t>
            </a:r>
            <a:r>
              <a:rPr lang="de-DE" dirty="0"/>
              <a:t>: Env+Log for MLP; SES-25 for GMM.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A200C0-93DA-EF1B-5636-FCC38A6F6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894" y="2412333"/>
            <a:ext cx="8416088" cy="363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59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05A437-B6DB-5CFF-A5F2-3E33186FB4D4}"/>
              </a:ext>
            </a:extLst>
          </p:cNvPr>
          <p:cNvSpPr txBox="1"/>
          <p:nvPr/>
        </p:nvSpPr>
        <p:spPr>
          <a:xfrm>
            <a:off x="1335505" y="114300"/>
            <a:ext cx="96914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2) Right PCA size helps (especially for MLP)</a:t>
            </a:r>
          </a:p>
          <a:p>
            <a:r>
              <a:rPr lang="de-DE" b="1" dirty="0"/>
              <a:t>What we saw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MLP:</a:t>
            </a:r>
            <a:r>
              <a:rPr lang="de-DE" dirty="0"/>
              <a:t> average F1 improved up to </a:t>
            </a:r>
            <a:r>
              <a:rPr lang="de-DE" b="1" dirty="0"/>
              <a:t>PCA = 8</a:t>
            </a:r>
            <a:r>
              <a:rPr lang="de-DE" dirty="0"/>
              <a:t>; </a:t>
            </a:r>
            <a:r>
              <a:rPr lang="de-DE" b="1" dirty="0"/>
              <a:t>PCA = 4</a:t>
            </a:r>
            <a:r>
              <a:rPr lang="de-DE" dirty="0"/>
              <a:t> close behind.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GMM:</a:t>
            </a:r>
            <a:r>
              <a:rPr lang="de-DE" dirty="0"/>
              <a:t> small PCA (</a:t>
            </a:r>
            <a:r>
              <a:rPr lang="de-DE" b="1" dirty="0"/>
              <a:t>2–4</a:t>
            </a:r>
            <a:r>
              <a:rPr lang="de-DE" dirty="0"/>
              <a:t>) fine; </a:t>
            </a:r>
            <a:r>
              <a:rPr lang="de-DE" b="1" dirty="0"/>
              <a:t>8</a:t>
            </a:r>
            <a:r>
              <a:rPr lang="de-DE" dirty="0"/>
              <a:t> didn’t help on average.</a:t>
            </a:r>
          </a:p>
          <a:p>
            <a:r>
              <a:rPr lang="de-DE" b="1" dirty="0"/>
              <a:t>Why this happens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PCA removes noise/correlation → cleaner decision boundaries for MLP.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Too much reduction can drop class cues; too little keeps noise.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GMM prefers compact, well-conditioned inputs; small k keeps covariances stable.</a:t>
            </a:r>
          </a:p>
          <a:p>
            <a:r>
              <a:rPr lang="de-DE" b="1" dirty="0"/>
              <a:t>Takeaway</a:t>
            </a:r>
            <a:br>
              <a:rPr lang="de-DE" dirty="0"/>
            </a:br>
            <a:r>
              <a:rPr lang="de-DE" dirty="0"/>
              <a:t>Use </a:t>
            </a:r>
            <a:r>
              <a:rPr lang="de-DE" b="1" dirty="0"/>
              <a:t>k ≈ 8</a:t>
            </a:r>
            <a:r>
              <a:rPr lang="de-DE" dirty="0"/>
              <a:t> for MLP, </a:t>
            </a:r>
            <a:r>
              <a:rPr lang="de-DE" b="1" dirty="0"/>
              <a:t>k ≈ 2–4</a:t>
            </a:r>
            <a:r>
              <a:rPr lang="de-DE" dirty="0"/>
              <a:t> for GMM as sensible defaults.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84C44A-08E8-F0C0-9369-FC1D89158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506" y="3037975"/>
            <a:ext cx="9691436" cy="352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11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818B99-CB27-12A1-5058-0EE616DEBE8D}"/>
              </a:ext>
            </a:extLst>
          </p:cNvPr>
          <p:cNvSpPr txBox="1"/>
          <p:nvPr/>
        </p:nvSpPr>
        <p:spPr>
          <a:xfrm>
            <a:off x="1419726" y="84221"/>
            <a:ext cx="75377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3) Scaling choice: </a:t>
            </a:r>
            <a:r>
              <a:rPr lang="en-US" b="1" dirty="0" err="1"/>
              <a:t>MinMax</a:t>
            </a:r>
            <a:r>
              <a:rPr lang="en-US" b="1" dirty="0"/>
              <a:t> &gt; z-score (for MLP)</a:t>
            </a:r>
          </a:p>
          <a:p>
            <a:r>
              <a:rPr lang="en-US" b="1" dirty="0"/>
              <a:t>What we saw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MLP:</a:t>
            </a:r>
            <a:r>
              <a:rPr lang="en-US" dirty="0"/>
              <a:t> </a:t>
            </a:r>
            <a:r>
              <a:rPr lang="en-US" b="1" dirty="0" err="1"/>
              <a:t>MinMax</a:t>
            </a:r>
            <a:r>
              <a:rPr lang="en-US" dirty="0"/>
              <a:t> gave the best mean F1; </a:t>
            </a:r>
            <a:r>
              <a:rPr lang="en-US" b="1" dirty="0"/>
              <a:t>z-score</a:t>
            </a:r>
            <a:r>
              <a:rPr lang="en-US" dirty="0"/>
              <a:t> was OK; </a:t>
            </a:r>
            <a:r>
              <a:rPr lang="en-US" b="1" dirty="0"/>
              <a:t>Robust</a:t>
            </a:r>
            <a:r>
              <a:rPr lang="en-US" dirty="0"/>
              <a:t> lagged.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GMM was less sensitive, but consistent scaling still mattered.</a:t>
            </a:r>
          </a:p>
          <a:p>
            <a:r>
              <a:rPr lang="en-US" b="1" dirty="0"/>
              <a:t>Why this happens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 small MLPs, keeping features in a </a:t>
            </a:r>
            <a:r>
              <a:rPr lang="en-US" b="1" dirty="0"/>
              <a:t>bounded range</a:t>
            </a:r>
            <a:r>
              <a:rPr lang="en-US" dirty="0"/>
              <a:t> helps training stability and aligns with activations/regularization.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z-score can amplify tails; Robust can under-scale informative peaks.</a:t>
            </a:r>
          </a:p>
          <a:p>
            <a:r>
              <a:rPr lang="en-US" b="1" dirty="0"/>
              <a:t>Takeaway</a:t>
            </a:r>
            <a:br>
              <a:rPr lang="en-US" dirty="0"/>
            </a:br>
            <a:r>
              <a:rPr lang="en-US" dirty="0"/>
              <a:t>Default to </a:t>
            </a:r>
            <a:r>
              <a:rPr lang="en-US" b="1" dirty="0" err="1"/>
              <a:t>MinMax</a:t>
            </a:r>
            <a:r>
              <a:rPr lang="en-US" dirty="0"/>
              <a:t> for MLP; keep train/test scaling identical.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C100B3-09F2-BF7B-F0DC-C24DE1F8E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609" y="2946543"/>
            <a:ext cx="6864017" cy="352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14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E1AE84-29CC-0585-1B9A-FC6100DC1BD8}"/>
              </a:ext>
            </a:extLst>
          </p:cNvPr>
          <p:cNvSpPr txBox="1"/>
          <p:nvPr/>
        </p:nvSpPr>
        <p:spPr>
          <a:xfrm>
            <a:off x="1193131" y="30999"/>
            <a:ext cx="96493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4) Aggregation boosts stability (small F1 bump for GMM)</a:t>
            </a:r>
          </a:p>
          <a:p>
            <a:r>
              <a:rPr lang="en-US" b="1" dirty="0"/>
              <a:t>What we saw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A8-GMM:</a:t>
            </a:r>
            <a:r>
              <a:rPr lang="en-US" dirty="0"/>
              <a:t> </a:t>
            </a:r>
            <a:r>
              <a:rPr lang="en-US" b="1" dirty="0"/>
              <a:t>0.900 → 0.909</a:t>
            </a:r>
            <a:r>
              <a:rPr lang="en-US" dirty="0"/>
              <a:t> with file-level aggregation.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A16-MLP:</a:t>
            </a:r>
            <a:r>
              <a:rPr lang="en-US" dirty="0"/>
              <a:t> stayed at </a:t>
            </a:r>
            <a:r>
              <a:rPr lang="en-US" b="1" dirty="0"/>
              <a:t>0.923</a:t>
            </a:r>
            <a:r>
              <a:rPr lang="en-US" dirty="0"/>
              <a:t>; still reduces flip-flops in per-file decisions.</a:t>
            </a:r>
          </a:p>
          <a:p>
            <a:r>
              <a:rPr lang="en-US" b="1" dirty="0"/>
              <a:t>Why this happens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Segment predictions are noisy; pooling (majority/mean/median log-</a:t>
            </a:r>
            <a:r>
              <a:rPr lang="en-US" dirty="0" err="1"/>
              <a:t>lik</a:t>
            </a:r>
            <a:r>
              <a:rPr lang="en-US" dirty="0"/>
              <a:t>) cancels out odd segments.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GMM benefits more because its per-segment decisions are a bit weaker; MLP is already strong per segment.</a:t>
            </a:r>
          </a:p>
          <a:p>
            <a:r>
              <a:rPr lang="en-US" b="1" dirty="0"/>
              <a:t>Takeaway</a:t>
            </a:r>
            <a:br>
              <a:rPr lang="en-US" dirty="0"/>
            </a:br>
            <a:r>
              <a:rPr lang="en-US" dirty="0"/>
              <a:t>Always </a:t>
            </a:r>
            <a:r>
              <a:rPr lang="en-US" b="1" dirty="0"/>
              <a:t>aggregate</a:t>
            </a:r>
            <a:r>
              <a:rPr lang="en-US" dirty="0"/>
              <a:t> for final machine/file decisions—even when F1 barely moves, stability and interpretability improve.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B45A67-EF7A-F72D-E867-C1589DB74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74" y="3170319"/>
            <a:ext cx="7249026" cy="347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752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7DCC41-9740-B217-BAB3-8A7A9FD6F3AD}"/>
              </a:ext>
            </a:extLst>
          </p:cNvPr>
          <p:cNvSpPr txBox="1"/>
          <p:nvPr/>
        </p:nvSpPr>
        <p:spPr>
          <a:xfrm>
            <a:off x="1239252" y="120316"/>
            <a:ext cx="98177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/>
              <a:t>5) Envelope + log helps MLP, not GMM</a:t>
            </a:r>
          </a:p>
          <a:p>
            <a:r>
              <a:rPr lang="de-DE" b="1"/>
              <a:t>What we saw</a:t>
            </a:r>
            <a:endParaRPr lang="de-DE"/>
          </a:p>
          <a:p>
            <a:pPr>
              <a:buFont typeface="Arial" panose="020B0604020202020204" pitchFamily="34" charset="0"/>
              <a:buChar char="•"/>
            </a:pPr>
            <a:r>
              <a:rPr lang="de-DE" b="1"/>
              <a:t>MLP (BP 1–5k):</a:t>
            </a:r>
            <a:r>
              <a:rPr lang="de-DE"/>
              <a:t> </a:t>
            </a:r>
            <a:r>
              <a:rPr lang="de-DE" b="1"/>
              <a:t>0.833 → 0.874</a:t>
            </a:r>
            <a:r>
              <a:rPr lang="de-DE"/>
              <a:t> after adding </a:t>
            </a:r>
            <a:r>
              <a:rPr lang="de-DE" b="1"/>
              <a:t>envelope + log</a:t>
            </a:r>
            <a:r>
              <a:rPr lang="de-DE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/>
              <a:t>GMM:</a:t>
            </a:r>
            <a:r>
              <a:rPr lang="de-DE"/>
              <a:t> </a:t>
            </a:r>
            <a:r>
              <a:rPr lang="de-DE" b="1"/>
              <a:t>0.900 (BP only)</a:t>
            </a:r>
            <a:r>
              <a:rPr lang="de-DE"/>
              <a:t> dropped to </a:t>
            </a:r>
            <a:r>
              <a:rPr lang="de-DE" b="1"/>
              <a:t>0.800</a:t>
            </a:r>
            <a:r>
              <a:rPr lang="de-DE"/>
              <a:t> with envelope/log.</a:t>
            </a:r>
          </a:p>
          <a:p>
            <a:r>
              <a:rPr lang="de-DE" b="1"/>
              <a:t>Why this happens</a:t>
            </a:r>
            <a:endParaRPr lang="de-DE"/>
          </a:p>
          <a:p>
            <a:pPr>
              <a:buFont typeface="Arial" panose="020B0604020202020204" pitchFamily="34" charset="0"/>
              <a:buChar char="•"/>
            </a:pPr>
            <a:r>
              <a:rPr lang="de-DE"/>
              <a:t>Envelope+log linearizes “loudness” and spotlights periodic/impact cues—</a:t>
            </a:r>
            <a:r>
              <a:rPr lang="de-DE" b="1"/>
              <a:t>MLP</a:t>
            </a:r>
            <a:r>
              <a:rPr lang="de-DE"/>
              <a:t> exploits these non-linear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/>
              <a:t>GMM</a:t>
            </a:r>
            <a:r>
              <a:rPr lang="de-DE"/>
              <a:t> expects roughly Gaussian clusters; envelope/log can distort them, hurting mixture fits.</a:t>
            </a:r>
          </a:p>
          <a:p>
            <a:r>
              <a:rPr lang="de-DE" b="1"/>
              <a:t>Takeaway</a:t>
            </a:r>
            <a:br>
              <a:rPr lang="de-DE"/>
            </a:br>
            <a:r>
              <a:rPr lang="de-DE"/>
              <a:t>Use </a:t>
            </a:r>
            <a:r>
              <a:rPr lang="de-DE" b="1"/>
              <a:t>envelope+log</a:t>
            </a:r>
            <a:r>
              <a:rPr lang="de-DE"/>
              <a:t> when your classifier is </a:t>
            </a:r>
            <a:r>
              <a:rPr lang="de-DE" b="1"/>
              <a:t>MLP</a:t>
            </a:r>
            <a:r>
              <a:rPr lang="de-DE"/>
              <a:t>; prefer </a:t>
            </a:r>
            <a:r>
              <a:rPr lang="de-DE" b="1"/>
              <a:t>plain band-energy/SES-25</a:t>
            </a:r>
            <a:r>
              <a:rPr lang="de-DE"/>
              <a:t> for </a:t>
            </a:r>
            <a:r>
              <a:rPr lang="de-DE" b="1"/>
              <a:t>GMM</a:t>
            </a:r>
            <a:r>
              <a:rPr lang="de-DE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DBEE52-B915-4548-50E8-F6ED6003E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342" y="2982638"/>
            <a:ext cx="8121315" cy="375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14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833650-D8EB-222D-4F90-F2692DD195AB}"/>
              </a:ext>
            </a:extLst>
          </p:cNvPr>
          <p:cNvSpPr txBox="1"/>
          <p:nvPr/>
        </p:nvSpPr>
        <p:spPr>
          <a:xfrm>
            <a:off x="2333124" y="2967335"/>
            <a:ext cx="7525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6)Tiny extra (no figure): in the </a:t>
            </a:r>
            <a:r>
              <a:rPr lang="en-US" dirty="0" err="1"/>
              <a:t>Env+Log</a:t>
            </a:r>
            <a:r>
              <a:rPr lang="en-US" dirty="0"/>
              <a:t> pipelines, </a:t>
            </a:r>
            <a:r>
              <a:rPr lang="en-US" b="1" dirty="0"/>
              <a:t>8 kHz</a:t>
            </a:r>
            <a:r>
              <a:rPr lang="en-US" dirty="0"/>
              <a:t> tended to edge out </a:t>
            </a:r>
            <a:r>
              <a:rPr lang="en-US" b="1" dirty="0"/>
              <a:t>16 kHz</a:t>
            </a:r>
            <a:r>
              <a:rPr lang="en-US" dirty="0"/>
              <a:t> for MLP (higher mean and best F1), while GMM gains were modest and more configuration-dependent.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276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64844-0458-C75C-ECD2-B0EAFDB5756E}"/>
              </a:ext>
            </a:extLst>
          </p:cNvPr>
          <p:cNvSpPr txBox="1"/>
          <p:nvPr/>
        </p:nvSpPr>
        <p:spPr>
          <a:xfrm>
            <a:off x="1722521" y="1305341"/>
            <a:ext cx="87469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Champion 1 — A16-MLP (Best overall F1)</a:t>
            </a:r>
          </a:p>
          <a:p>
            <a:r>
              <a:rPr lang="de-DE" b="1" dirty="0"/>
              <a:t>Config (what it does):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SR:</a:t>
            </a:r>
            <a:r>
              <a:rPr lang="de-DE" dirty="0"/>
              <a:t> 8 kHz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Band:</a:t>
            </a:r>
            <a:r>
              <a:rPr lang="de-DE" dirty="0"/>
              <a:t> </a:t>
            </a:r>
            <a:r>
              <a:rPr lang="de-DE" b="1" dirty="0"/>
              <a:t>1–3.5 kHz</a:t>
            </a:r>
            <a:r>
              <a:rPr lang="de-DE" dirty="0"/>
              <a:t> band-pass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Feature front-end:</a:t>
            </a:r>
            <a:r>
              <a:rPr lang="de-DE" dirty="0"/>
              <a:t> </a:t>
            </a:r>
            <a:r>
              <a:rPr lang="de-DE" b="1" dirty="0"/>
              <a:t>Envelope + Log</a:t>
            </a:r>
            <a:r>
              <a:rPr lang="de-DE" dirty="0"/>
              <a:t> (on the band-passed signal)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Dimensionality:</a:t>
            </a:r>
            <a:r>
              <a:rPr lang="de-DE" dirty="0"/>
              <a:t> </a:t>
            </a:r>
            <a:r>
              <a:rPr lang="de-DE" b="1" dirty="0"/>
              <a:t>PCA = 8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Scaling:</a:t>
            </a:r>
            <a:r>
              <a:rPr lang="de-DE" dirty="0"/>
              <a:t> </a:t>
            </a:r>
            <a:r>
              <a:rPr lang="de-DE" b="1" dirty="0"/>
              <a:t>MinMax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Classifier:</a:t>
            </a:r>
            <a:r>
              <a:rPr lang="de-DE" dirty="0"/>
              <a:t> </a:t>
            </a:r>
            <a:r>
              <a:rPr lang="de-DE" b="1" dirty="0"/>
              <a:t>MLP</a:t>
            </a:r>
            <a:r>
              <a:rPr lang="de-DE" dirty="0"/>
              <a:t> (small fully-connected net)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Aggregation (file-level):</a:t>
            </a:r>
            <a:r>
              <a:rPr lang="de-DE" dirty="0"/>
              <a:t> mean probability ≥ 0.5 (optional; same headline F1)</a:t>
            </a:r>
          </a:p>
          <a:p>
            <a:r>
              <a:rPr lang="de-DE" b="1" dirty="0"/>
              <a:t>Metrics (from your runs):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Segment-level:</a:t>
            </a:r>
            <a:r>
              <a:rPr lang="de-DE" dirty="0"/>
              <a:t> </a:t>
            </a:r>
            <a:r>
              <a:rPr lang="de-DE" b="1" dirty="0"/>
              <a:t>F1 = 0.923</a:t>
            </a:r>
            <a:r>
              <a:rPr lang="de-DE" dirty="0"/>
              <a:t>, Acc = 0.889, Prec = 0.857, </a:t>
            </a:r>
            <a:r>
              <a:rPr lang="de-DE" b="1" dirty="0"/>
              <a:t>Rec = 1.000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File-level (mean-prob):</a:t>
            </a:r>
            <a:r>
              <a:rPr lang="de-DE" dirty="0"/>
              <a:t> </a:t>
            </a:r>
            <a:r>
              <a:rPr lang="de-DE" b="1" dirty="0"/>
              <a:t>F1 = 0.923</a:t>
            </a:r>
            <a:r>
              <a:rPr lang="de-DE" dirty="0"/>
              <a:t>, Acc = 0.889, Prec = 0.857, Rec = 1.000</a:t>
            </a:r>
          </a:p>
          <a:p>
            <a:r>
              <a:rPr lang="de-DE" b="1" dirty="0"/>
              <a:t>Why it works:</a:t>
            </a:r>
            <a:br>
              <a:rPr lang="de-DE" dirty="0"/>
            </a:br>
            <a:r>
              <a:rPr lang="de-DE" dirty="0"/>
              <a:t>Env+Log turns the band energy into a stable loudness trace; </a:t>
            </a:r>
            <a:r>
              <a:rPr lang="de-DE" b="1" dirty="0"/>
              <a:t>PCA(8)+MinMax</a:t>
            </a:r>
            <a:r>
              <a:rPr lang="de-DE" dirty="0"/>
              <a:t> gives clean inputs; </a:t>
            </a:r>
            <a:r>
              <a:rPr lang="de-DE" b="1" dirty="0"/>
              <a:t>MLP</a:t>
            </a:r>
            <a:r>
              <a:rPr lang="de-DE" dirty="0"/>
              <a:t> captures the non-linear cues → top F1 with perfect recall in your test split.</a:t>
            </a:r>
          </a:p>
        </p:txBody>
      </p:sp>
    </p:spTree>
    <p:extLst>
      <p:ext uri="{BB962C8B-B14F-4D97-AF65-F5344CB8AC3E}">
        <p14:creationId xmlns:p14="http://schemas.microsoft.com/office/powerpoint/2010/main" val="2875371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C673B8-BBA1-5C0D-30F0-61C8A34A01C9}"/>
              </a:ext>
            </a:extLst>
          </p:cNvPr>
          <p:cNvSpPr txBox="1"/>
          <p:nvPr/>
        </p:nvSpPr>
        <p:spPr>
          <a:xfrm>
            <a:off x="2069432" y="715879"/>
            <a:ext cx="84100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/>
              <a:t>Champion 2 — A8-GMM (Simplest/fastest strong performer)</a:t>
            </a:r>
          </a:p>
          <a:p>
            <a:r>
              <a:rPr lang="de-DE" b="1"/>
              <a:t>Config (what it does):</a:t>
            </a:r>
            <a:endParaRPr lang="de-DE"/>
          </a:p>
          <a:p>
            <a:pPr>
              <a:buFont typeface="Arial" panose="020B0604020202020204" pitchFamily="34" charset="0"/>
              <a:buChar char="•"/>
            </a:pPr>
            <a:r>
              <a:rPr lang="de-DE" b="1"/>
              <a:t>SR:</a:t>
            </a:r>
            <a:r>
              <a:rPr lang="de-DE"/>
              <a:t> (as in the run)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/>
              <a:t>Band:</a:t>
            </a:r>
            <a:r>
              <a:rPr lang="de-DE"/>
              <a:t> </a:t>
            </a:r>
            <a:r>
              <a:rPr lang="de-DE" b="1"/>
              <a:t>1–5 kHz</a:t>
            </a:r>
            <a:r>
              <a:rPr lang="de-DE"/>
              <a:t> band-pass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/>
              <a:t>Feature set:</a:t>
            </a:r>
            <a:r>
              <a:rPr lang="de-DE"/>
              <a:t> </a:t>
            </a:r>
            <a:r>
              <a:rPr lang="de-DE" b="1"/>
              <a:t>SES-25</a:t>
            </a:r>
            <a:r>
              <a:rPr lang="de-DE"/>
              <a:t> (time/freq/autocorr stats)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/>
              <a:t>Classifier:</a:t>
            </a:r>
            <a:r>
              <a:rPr lang="de-DE"/>
              <a:t> </a:t>
            </a:r>
            <a:r>
              <a:rPr lang="de-DE" b="1"/>
              <a:t>GMM</a:t>
            </a:r>
            <a:r>
              <a:rPr lang="de-DE"/>
              <a:t> (class-conditional mixtures)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/>
              <a:t>Aggregation (file-level):</a:t>
            </a:r>
            <a:r>
              <a:rPr lang="de-DE"/>
              <a:t> </a:t>
            </a:r>
            <a:r>
              <a:rPr lang="de-DE" b="1"/>
              <a:t>majority vote</a:t>
            </a:r>
            <a:r>
              <a:rPr lang="de-DE"/>
              <a:t> on segment labels</a:t>
            </a:r>
          </a:p>
          <a:p>
            <a:r>
              <a:rPr lang="de-DE" b="1"/>
              <a:t>Metrics (from your runs):</a:t>
            </a:r>
            <a:endParaRPr lang="de-DE"/>
          </a:p>
          <a:p>
            <a:pPr>
              <a:buFont typeface="Arial" panose="020B0604020202020204" pitchFamily="34" charset="0"/>
              <a:buChar char="•"/>
            </a:pPr>
            <a:r>
              <a:rPr lang="de-DE" b="1"/>
              <a:t>Segment-level:</a:t>
            </a:r>
            <a:r>
              <a:rPr lang="de-DE"/>
              <a:t> </a:t>
            </a:r>
            <a:r>
              <a:rPr lang="de-DE" b="1"/>
              <a:t>F1 = 0.900</a:t>
            </a:r>
            <a:r>
              <a:rPr lang="de-DE"/>
              <a:t>, Acc = 0.877, </a:t>
            </a:r>
            <a:r>
              <a:rPr lang="de-DE" b="1"/>
              <a:t>Prec = 0.978</a:t>
            </a:r>
            <a:r>
              <a:rPr lang="de-DE"/>
              <a:t>, Rec = 0.833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/>
              <a:t>File-level (majority):</a:t>
            </a:r>
            <a:r>
              <a:rPr lang="de-DE"/>
              <a:t> </a:t>
            </a:r>
            <a:r>
              <a:rPr lang="de-DE" b="1"/>
              <a:t>F1 = 0.909</a:t>
            </a:r>
            <a:r>
              <a:rPr lang="de-DE"/>
              <a:t>, Acc = 0.889, </a:t>
            </a:r>
            <a:r>
              <a:rPr lang="de-DE" b="1"/>
              <a:t>Prec = 1.000</a:t>
            </a:r>
            <a:r>
              <a:rPr lang="de-DE"/>
              <a:t>, Rec = 0.833</a:t>
            </a:r>
          </a:p>
          <a:p>
            <a:r>
              <a:rPr lang="de-DE" b="1"/>
              <a:t>Why it works:</a:t>
            </a:r>
            <a:br>
              <a:rPr lang="de-DE"/>
            </a:br>
            <a:r>
              <a:rPr lang="de-DE"/>
              <a:t>Clean </a:t>
            </a:r>
            <a:r>
              <a:rPr lang="de-DE" b="1"/>
              <a:t>band-pass + SES-25</a:t>
            </a:r>
            <a:r>
              <a:rPr lang="de-DE"/>
              <a:t> matches GMM’s Gaussian assumptions; it’s tiny and fast, and </a:t>
            </a:r>
            <a:r>
              <a:rPr lang="de-DE" b="1"/>
              <a:t>file-level aggregation</a:t>
            </a:r>
            <a:r>
              <a:rPr lang="de-DE"/>
              <a:t> bumps stability and F1 with </a:t>
            </a:r>
            <a:r>
              <a:rPr lang="de-DE" b="1"/>
              <a:t>zero false alarms</a:t>
            </a:r>
            <a:r>
              <a:rPr lang="de-DE"/>
              <a:t> in your test split (Prec=1.0).</a:t>
            </a:r>
          </a:p>
        </p:txBody>
      </p:sp>
    </p:spTree>
    <p:extLst>
      <p:ext uri="{BB962C8B-B14F-4D97-AF65-F5344CB8AC3E}">
        <p14:creationId xmlns:p14="http://schemas.microsoft.com/office/powerpoint/2010/main" val="1617472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7C1C75-8EBB-8F88-B65E-5A88BF449B2D}"/>
              </a:ext>
            </a:extLst>
          </p:cNvPr>
          <p:cNvSpPr txBox="1"/>
          <p:nvPr/>
        </p:nvSpPr>
        <p:spPr>
          <a:xfrm>
            <a:off x="2173705" y="1859339"/>
            <a:ext cx="78445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A8-GMM?</a:t>
            </a:r>
            <a:br>
              <a:rPr lang="en-US" dirty="0"/>
            </a:br>
            <a:r>
              <a:rPr lang="en-US" dirty="0"/>
              <a:t>It uses the </a:t>
            </a:r>
            <a:r>
              <a:rPr lang="en-US" b="1" dirty="0"/>
              <a:t>25 classic features</a:t>
            </a:r>
            <a:r>
              <a:rPr lang="en-US" dirty="0"/>
              <a:t> (simple band-pass + stats), is </a:t>
            </a:r>
            <a:r>
              <a:rPr lang="en-US" b="1" dirty="0"/>
              <a:t>much faster</a:t>
            </a:r>
            <a:r>
              <a:rPr lang="en-US" dirty="0"/>
              <a:t> and </a:t>
            </a:r>
            <a:r>
              <a:rPr lang="en-US" b="1" dirty="0"/>
              <a:t>easier to implement</a:t>
            </a:r>
            <a:r>
              <a:rPr lang="en-US" dirty="0"/>
              <a:t> on ESP32 than the MLP stack.</a:t>
            </a:r>
          </a:p>
          <a:p>
            <a:r>
              <a:rPr lang="en-US" b="1" dirty="0"/>
              <a:t>Results: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F1 ≈ 0.90–0.91</a:t>
            </a:r>
            <a:r>
              <a:rPr lang="en-US" dirty="0"/>
              <a:t>, </a:t>
            </a:r>
            <a:r>
              <a:rPr lang="en-US" b="1" dirty="0"/>
              <a:t>Precision ≈ 1.00</a:t>
            </a:r>
            <a:r>
              <a:rPr lang="en-US" dirty="0"/>
              <a:t>, </a:t>
            </a:r>
            <a:r>
              <a:rPr lang="en-US" b="1" dirty="0"/>
              <a:t>Recall ≈ 0.83</a:t>
            </a:r>
            <a:r>
              <a:rPr lang="en-US" dirty="0"/>
              <a:t> (same accuracy as offline).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Latency:</a:t>
            </a:r>
            <a:r>
              <a:rPr lang="en-US" dirty="0"/>
              <a:t> ~</a:t>
            </a:r>
            <a:r>
              <a:rPr lang="en-US" b="1" dirty="0"/>
              <a:t>70–75 </a:t>
            </a:r>
            <a:r>
              <a:rPr lang="en-US" b="1" dirty="0" err="1"/>
              <a:t>ms</a:t>
            </a:r>
            <a:r>
              <a:rPr lang="en-US" b="1" dirty="0"/>
              <a:t> per frame</a:t>
            </a:r>
            <a:r>
              <a:rPr lang="en-US" dirty="0"/>
              <a:t> (FFT fast, but </a:t>
            </a:r>
            <a:r>
              <a:rPr lang="en-US" dirty="0" err="1"/>
              <a:t>MicroPython</a:t>
            </a:r>
            <a:r>
              <a:rPr lang="en-US" dirty="0"/>
              <a:t> PCA+GMM still ~64 </a:t>
            </a:r>
            <a:r>
              <a:rPr lang="en-US" dirty="0" err="1"/>
              <a:t>ms</a:t>
            </a:r>
            <a:r>
              <a:rPr lang="en-US" dirty="0"/>
              <a:t>).</a:t>
            </a:r>
          </a:p>
          <a:p>
            <a:r>
              <a:rPr lang="en-US" b="1" dirty="0"/>
              <a:t>Real-time?</a:t>
            </a:r>
            <a:br>
              <a:rPr lang="en-US" dirty="0"/>
            </a:br>
            <a:r>
              <a:rPr lang="en-US" dirty="0"/>
              <a:t>At a </a:t>
            </a:r>
            <a:r>
              <a:rPr lang="en-US" b="1" dirty="0"/>
              <a:t>16 </a:t>
            </a:r>
            <a:r>
              <a:rPr lang="en-US" b="1" dirty="0" err="1"/>
              <a:t>ms</a:t>
            </a:r>
            <a:r>
              <a:rPr lang="en-US" b="1" dirty="0"/>
              <a:t> hop</a:t>
            </a:r>
            <a:r>
              <a:rPr lang="en-US" dirty="0"/>
              <a:t>: </a:t>
            </a:r>
            <a:r>
              <a:rPr lang="en-US" b="1" dirty="0"/>
              <a:t>No</a:t>
            </a:r>
            <a:r>
              <a:rPr lang="en-US" dirty="0"/>
              <a:t> (≈70 </a:t>
            </a:r>
            <a:r>
              <a:rPr lang="en-US" dirty="0" err="1"/>
              <a:t>ms</a:t>
            </a:r>
            <a:r>
              <a:rPr lang="en-US" dirty="0"/>
              <a:t>/frame is too slow).</a:t>
            </a:r>
            <a:br>
              <a:rPr lang="en-US" dirty="0"/>
            </a:br>
            <a:r>
              <a:rPr lang="en-US" dirty="0"/>
              <a:t>If you either increase hop to ~64–80 </a:t>
            </a:r>
            <a:r>
              <a:rPr lang="en-US" dirty="0" err="1"/>
              <a:t>ms</a:t>
            </a:r>
            <a:r>
              <a:rPr lang="en-US" dirty="0"/>
              <a:t> </a:t>
            </a:r>
            <a:r>
              <a:rPr lang="en-US" b="1" dirty="0"/>
              <a:t>or</a:t>
            </a:r>
            <a:r>
              <a:rPr lang="en-US" dirty="0"/>
              <a:t> move the tiny model to C, then </a:t>
            </a:r>
            <a:r>
              <a:rPr lang="en-US" b="1" dirty="0"/>
              <a:t>yes</a:t>
            </a:r>
            <a:r>
              <a:rPr lang="en-US" dirty="0"/>
              <a:t>, real-time is practical.</a:t>
            </a:r>
          </a:p>
        </p:txBody>
      </p:sp>
    </p:spTree>
    <p:extLst>
      <p:ext uri="{BB962C8B-B14F-4D97-AF65-F5344CB8AC3E}">
        <p14:creationId xmlns:p14="http://schemas.microsoft.com/office/powerpoint/2010/main" val="474614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9C1240-BC50-C853-7169-C6A5263018DC}"/>
              </a:ext>
            </a:extLst>
          </p:cNvPr>
          <p:cNvSpPr txBox="1"/>
          <p:nvPr/>
        </p:nvSpPr>
        <p:spPr>
          <a:xfrm>
            <a:off x="2081463" y="1143000"/>
            <a:ext cx="83078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Sehri, M., &amp; Dumond, P. (2023). </a:t>
            </a:r>
            <a:r>
              <a:rPr lang="de-DE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Rolling-Element Bearing Acoustic Dataset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Mendeley Data.</a:t>
            </a:r>
          </a:p>
          <a:p>
            <a:r>
              <a:rPr lang="de-D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Sehri, M., Dumond, P., &amp; Bouchard, M. (2023). “University of Ottawa rolling-element bearing vibration &amp; acoustic datasets.” </a:t>
            </a:r>
            <a:r>
              <a:rPr lang="de-DE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in Brief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49.</a:t>
            </a:r>
          </a:p>
          <a:p>
            <a:r>
              <a:rPr lang="de-D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Kiener, J. (2025). </a:t>
            </a:r>
            <a:r>
              <a:rPr lang="de-DE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Porting and Evaluation of a Python Machine Learning System for a Linux-based Microcontroller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Master’s thesis, OTH Regensburg.</a:t>
            </a:r>
          </a:p>
          <a:p>
            <a:r>
              <a:rPr lang="de-D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Oppenheim, A. V., &amp; Schafer, R. W. (2010). </a:t>
            </a:r>
            <a:r>
              <a:rPr lang="de-DE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Discrete-Time Signal Processing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(3rd ed.). Pearson.</a:t>
            </a:r>
          </a:p>
          <a:p>
            <a:r>
              <a:rPr lang="de-D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Bishop, C. M. (2006). </a:t>
            </a:r>
            <a:r>
              <a:rPr lang="de-DE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Pattern Recognition and Machine Learning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Springer.</a:t>
            </a:r>
          </a:p>
          <a:p>
            <a:r>
              <a:rPr lang="de-D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Powers, D. M. W. (2011). “Evaluation: From Precision, Recall and F-Measure to ROC…” </a:t>
            </a:r>
            <a:r>
              <a:rPr lang="de-DE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Journal of Machine Learning Technologies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2(1), 37–63.</a:t>
            </a:r>
          </a:p>
          <a:p>
            <a:r>
              <a:rPr lang="de-D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MicroPython Developers. (2023). </a:t>
            </a:r>
            <a:r>
              <a:rPr lang="de-DE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MicroPython v1.20.0 Documentation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r>
              <a:rPr lang="de-D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ulab Contributors. (2025). </a:t>
            </a:r>
            <a:r>
              <a:rPr lang="de-DE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ulab for MicroPython: FFT &amp; API Notes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emlearn Contributors. (2025). </a:t>
            </a:r>
            <a:r>
              <a:rPr lang="de-DE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emlearn: ML for Microcontrollers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69122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ustom 2">
      <a:dk1>
        <a:sysClr val="windowText" lastClr="000000"/>
      </a:dk1>
      <a:lt1>
        <a:srgbClr val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{D0F0C86A-4A65-4AA7-8008-18D25346781F}TF6d5feb1e-e145-43f1-b745-cb4b54c5ee9798a2ed6b-d9319cd00b67</Template>
  <TotalTime>0</TotalTime>
  <Words>2364</Words>
  <Application>Microsoft Office PowerPoint</Application>
  <PresentationFormat>Widescreen</PresentationFormat>
  <Paragraphs>173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Symbol</vt:lpstr>
      <vt:lpstr>TeXGyreTermesX-Regular</vt:lpstr>
      <vt:lpstr>Times New Roman</vt:lpstr>
      <vt:lpstr>Tw Cen MT</vt:lpstr>
      <vt:lpstr>Circuit</vt:lpstr>
      <vt:lpstr>Audio-Based Bearing Fault Detection on Resource-Constrained Microcontrollers: An Ablation-Driven Study  Master’s Thesis Presentation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Audio-Based Bearing Fault Detection on Resource-Constrained Microcontrollers: An Ablation-Driven Study  Master’s Thesis Presentation  </dc:title>
  <dc:creator>raminn74@gmail.com</dc:creator>
  <cp:lastModifiedBy>raminn74@gmail.com</cp:lastModifiedBy>
  <cp:revision>2</cp:revision>
  <dcterms:created xsi:type="dcterms:W3CDTF">2025-09-10T07:57:09Z</dcterms:created>
  <dcterms:modified xsi:type="dcterms:W3CDTF">2025-09-10T11:11:23Z</dcterms:modified>
</cp:coreProperties>
</file>